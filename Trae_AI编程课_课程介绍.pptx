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0" y="1143000"/>
            <a:ext cx="45720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300" b="0" i="0">
                <a:solidFill>
                  <a:srgbClr val="45C8E0"/>
                </a:solidFill>
                <a:latin typeface="Consolas"/>
                <a:ea typeface="Consolas"/>
              </a:rPr>
              <a:t>&gt; print("Hello, AI!")</a:t>
            </a:r>
          </a:p>
          <a:p>
            <a:pPr algn="l">
              <a:lnSpc>
                <a:spcPct val="190000"/>
              </a:lnSpc>
            </a:pPr>
            <a:r>
              <a:rPr sz="1300" b="0" i="0">
                <a:solidFill>
                  <a:srgbClr val="45C8E0"/>
                </a:solidFill>
                <a:latin typeface="Consolas"/>
                <a:ea typeface="Consolas"/>
              </a:rPr>
              <a:t>
</a:t>
            </a:r>
            <a:r>
              <a:rPr sz="1300" b="0" i="0">
                <a:solidFill>
                  <a:srgbClr val="45C8E0"/>
                </a:solidFill>
                <a:latin typeface="Consolas"/>
                <a:ea typeface="Consolas"/>
              </a:rPr>
              <a:t>&gt; def guess_number():</a:t>
            </a:r>
          </a:p>
          <a:p>
            <a:pPr algn="l">
              <a:lnSpc>
                <a:spcPct val="190000"/>
              </a:lnSpc>
            </a:pPr>
            <a:r>
              <a:rPr sz="1300" b="0" i="0">
                <a:solidFill>
                  <a:srgbClr val="45C8E0"/>
                </a:solidFill>
                <a:latin typeface="Consolas"/>
                <a:ea typeface="Consolas"/>
              </a:rPr>
              <a:t>
</a:t>
            </a:r>
            <a:r>
              <a:rPr sz="1300" b="0" i="0">
                <a:solidFill>
                  <a:srgbClr val="45C8E0"/>
                </a:solidFill>
                <a:latin typeface="Consolas"/>
                <a:ea typeface="Consolas"/>
              </a:rPr>
              <a:t>&gt; &lt;html&gt;我的主页&lt;/html&gt;</a:t>
            </a:r>
          </a:p>
          <a:p>
            <a:pPr algn="l">
              <a:lnSpc>
                <a:spcPct val="190000"/>
              </a:lnSpc>
            </a:pPr>
            <a:r>
              <a:rPr sz="1300" b="0" i="0">
                <a:solidFill>
                  <a:srgbClr val="45C8E0"/>
                </a:solidFill>
                <a:latin typeface="Consolas"/>
                <a:ea typeface="Consolas"/>
              </a:rPr>
              <a:t>
</a:t>
            </a:r>
            <a:r>
              <a:rPr sz="1300" b="0" i="0">
                <a:solidFill>
                  <a:srgbClr val="45C8E0"/>
                </a:solidFill>
                <a:latin typeface="Consolas"/>
                <a:ea typeface="Consolas"/>
              </a:rPr>
              <a:t>&gt; while True: learn()</a:t>
            </a:r>
          </a:p>
          <a:p>
            <a:pPr algn="l">
              <a:lnSpc>
                <a:spcPct val="190000"/>
              </a:lnSpc>
            </a:pPr>
            <a:r>
              <a:rPr sz="1300" b="0" i="0">
                <a:solidFill>
                  <a:srgbClr val="45C8E0"/>
                </a:solidFill>
                <a:latin typeface="Consolas"/>
                <a:ea typeface="Consolas"/>
              </a:rPr>
              <a:t>
</a:t>
            </a:r>
            <a:r>
              <a:rPr sz="1300" b="0" i="0">
                <a:solidFill>
                  <a:srgbClr val="45C8E0"/>
                </a:solidFill>
                <a:latin typeface="Consolas"/>
                <a:ea typeface="Consolas"/>
              </a:rPr>
              <a:t>&gt; // Vibe Coding ON</a:t>
            </a:r>
          </a:p>
          <a:p>
            <a:pPr algn="l">
              <a:lnSpc>
                <a:spcPct val="190000"/>
              </a:lnSpc>
            </a:pPr>
            <a:r>
              <a:rPr sz="1300" b="0" i="0">
                <a:solidFill>
                  <a:srgbClr val="45C8E0"/>
                </a:solidFill>
                <a:latin typeface="Consolas"/>
                <a:ea typeface="Consolas"/>
              </a:rPr>
              <a:t>
</a:t>
            </a:r>
          </a:p>
        </p:txBody>
      </p:sp>
      <p:sp>
        <p:nvSpPr>
          <p:cNvPr id="3" name="Rectangle 2"/>
          <p:cNvSpPr/>
          <p:nvPr/>
        </p:nvSpPr>
        <p:spPr>
          <a:xfrm>
            <a:off x="6350000" y="1143000"/>
            <a:ext cx="12700" cy="38100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1524000"/>
            <a:ext cx="5080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课程宣讲 · 开课第一课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6000" y="1981200"/>
            <a:ext cx="6350000" cy="10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E9EDF2"/>
                </a:solidFill>
                <a:latin typeface="微软雅黑"/>
                <a:ea typeface="微软雅黑"/>
              </a:rPr>
              <a:t>AI 协同编程课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098800"/>
            <a:ext cx="5842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45C8E0"/>
                </a:solidFill>
                <a:latin typeface="微软雅黑"/>
                <a:ea typeface="微软雅黑"/>
              </a:rPr>
              <a:t>用 Trae 学 Python / HTML / JavaScript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6000" y="3759200"/>
            <a:ext cx="91440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4089400"/>
            <a:ext cx="5842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3A0B4"/>
                </a:solidFill>
                <a:latin typeface="微软雅黑"/>
                <a:ea typeface="微软雅黑"/>
              </a:rPr>
              <a:t>8 次课 · 2 大 AI 技能 · 6+ 个项目作品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5969000"/>
            <a:ext cx="635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面向教师与学生的课程介绍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8890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为什么现在学编程不一样了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727200"/>
            <a:ext cx="4826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93A0B4"/>
                </a:solidFill>
                <a:latin typeface="微软雅黑"/>
                <a:ea typeface="微软雅黑"/>
              </a:rPr>
              <a:t>过去的编程课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159000"/>
            <a:ext cx="482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先背语法，再写代码，错误提示看不懂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一个拼写错误卡一节课，挫败感强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练习脱离真实场景，学完不知道能做什么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7" name="Rectangle 6"/>
          <p:cNvSpPr/>
          <p:nvPr/>
        </p:nvSpPr>
        <p:spPr>
          <a:xfrm>
            <a:off x="6070600" y="1727200"/>
            <a:ext cx="12700" cy="40640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200" y="1727200"/>
            <a:ext cx="4826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</a:rPr>
              <a:t>现在：AI 协同编程时代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2159000"/>
            <a:ext cx="482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E9EDF2"/>
                </a:solidFill>
                <a:latin typeface="微软雅黑"/>
                <a:ea typeface="微软雅黑"/>
              </a:rPr>
              <a:t>· </a:t>
            </a:r>
            <a:r>
              <a:rPr sz="1400" b="0" i="0">
                <a:solidFill>
                  <a:srgbClr val="45C8E0"/>
                </a:solidFill>
                <a:latin typeface="微软雅黑"/>
                <a:ea typeface="微软雅黑"/>
              </a:rPr>
              <a:t>AI 代码补全</a:t>
            </a:r>
            <a:r>
              <a:rPr sz="1400" b="0" i="0">
                <a:solidFill>
                  <a:srgbClr val="E9EDF2"/>
                </a:solidFill>
                <a:latin typeface="微软雅黑"/>
                <a:ea typeface="微软雅黑"/>
              </a:rPr>
              <a:t>：写一半，AI 猜你想写的下一半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E9EDF2"/>
                </a:solidFill>
                <a:latin typeface="微软雅黑"/>
                <a:ea typeface="微软雅黑"/>
              </a:rPr>
              <a:t>· </a:t>
            </a:r>
            <a:r>
              <a:rPr sz="1400" b="0" i="0">
                <a:solidFill>
                  <a:srgbClr val="45C8E0"/>
                </a:solidFill>
                <a:latin typeface="微软雅黑"/>
                <a:ea typeface="微软雅黑"/>
              </a:rPr>
              <a:t>Vibe Coding</a:t>
            </a:r>
            <a:r>
              <a:rPr sz="1400" b="0" i="0">
                <a:solidFill>
                  <a:srgbClr val="E9EDF2"/>
                </a:solidFill>
                <a:latin typeface="微软雅黑"/>
                <a:ea typeface="微软雅黑"/>
              </a:rPr>
              <a:t>：用自然语言描述想法，AI 生成程序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E9EDF2"/>
                </a:solidFill>
                <a:latin typeface="微软雅黑"/>
                <a:ea typeface="微软雅黑"/>
              </a:rPr>
              <a:t>· 从第一节课开始就做出能玩、能用的作品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4826000"/>
            <a:ext cx="10566400" cy="990600"/>
          </a:xfrm>
          <a:prstGeom prst="roundRect">
            <a:avLst>
              <a:gd name="adj" fmla="val 8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7600" y="4826000"/>
            <a:ext cx="9956800" cy="99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9EDF2"/>
                </a:solidFill>
                <a:latin typeface="微软雅黑"/>
                <a:ea typeface="微软雅黑"/>
              </a:rPr>
              <a:t>本课程的核心立场：</a:t>
            </a:r>
            <a:r>
              <a:rPr sz="1600" b="0" i="0">
                <a:solidFill>
                  <a:srgbClr val="F5A623"/>
                </a:solidFill>
                <a:latin typeface="微软雅黑"/>
                <a:ea typeface="微软雅黑"/>
              </a:rPr>
              <a:t>语法不再是门槛，想法才是。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  <a:r>
              <a:rPr sz="1600" b="0" i="0">
                <a:solidFill>
                  <a:srgbClr val="E9EDF2"/>
                </a:solidFill>
                <a:latin typeface="微软雅黑"/>
                <a:ea typeface="微软雅黑"/>
              </a:rPr>
              <a:t>学生要练的不是死记硬背，而是"把想法说清楚、让 AI 做出来"的能力。</a:t>
            </a:r>
          </a:p>
          <a:p>
            <a:pPr algn="l">
              <a:lnSpc>
                <a:spcPct val="150000"/>
              </a:lnSpc>
            </a:pPr>
            <a:r>
              <a:rPr sz="16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9652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课程设计理念：小步子、即学即练、AI 结对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6002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设计参考吴恩达（Andrew Ng）"Learn Python with AI" 系列课程：零基础友好，让 AI 全程当学生的编程搭档。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489200"/>
            <a:ext cx="431800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39" b="1">
                <a:solidFill>
                  <a:srgbClr val="F5A623"/>
                </a:solidFill>
                <a:latin typeface="微软雅黑"/>
              </a:rPr>
              <a:t>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2400" y="2413000"/>
            <a:ext cx="38100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DF2"/>
                </a:solidFill>
                <a:latin typeface="微软雅黑"/>
                <a:ea typeface="微软雅黑"/>
              </a:rPr>
              <a:t>小步子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2400" y="2844800"/>
            <a:ext cx="4191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每次课只引入 1-2 个新概念，其余交给 AI。先会用，再慢慢懂原理。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2286000"/>
            <a:ext cx="48768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0" y="2489200"/>
            <a:ext cx="431800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39" b="1">
                <a:solidFill>
                  <a:srgbClr val="F5A623"/>
                </a:solidFill>
                <a:latin typeface="微软雅黑"/>
              </a:rPr>
              <a:t>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3600" y="2413000"/>
            <a:ext cx="38100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DF2"/>
                </a:solidFill>
                <a:latin typeface="微软雅黑"/>
                <a:ea typeface="微软雅黑"/>
              </a:rPr>
              <a:t>即学即练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3600" y="2844800"/>
            <a:ext cx="41656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讲 10 分钟就动手 25 分钟。每节课都产出一个能运行的小项目，当场看到成果。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4000" y="2286000"/>
            <a:ext cx="47752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4521200"/>
            <a:ext cx="431800" cy="431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39" b="1">
                <a:solidFill>
                  <a:srgbClr val="45C8E0"/>
                </a:solidFill>
                <a:latin typeface="微软雅黑"/>
              </a:rPr>
              <a:t>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2400" y="4445000"/>
            <a:ext cx="3810000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DF2"/>
                </a:solidFill>
                <a:latin typeface="微软雅黑"/>
                <a:ea typeface="微软雅黑"/>
              </a:rPr>
              <a:t>AI 结对编程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2400" y="4876800"/>
            <a:ext cx="99568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AI 不是答案机器，而是"同桌"：学生负责提想法、做判断、验收结果；AI 负责补全、解释、生成。遇到报错先问 AI，再问老师。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4318000"/>
            <a:ext cx="10566400" cy="25400"/>
          </a:xfrm>
          <a:prstGeom prst="rect">
            <a:avLst/>
          </a:prstGeom>
          <a:solidFill>
            <a:srgbClr val="45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8890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两大 AI 技能目标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0" y="177800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8400" y="2082800"/>
            <a:ext cx="762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A623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2717800"/>
            <a:ext cx="431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9EDF2"/>
                </a:solidFill>
                <a:latin typeface="微软雅黑"/>
                <a:ea typeface="微软雅黑"/>
              </a:rPr>
              <a:t>代码补全 —— Tab 键的魔法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400" y="3225800"/>
            <a:ext cx="43688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写函数名，AI 补全函数体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写注释，AI 把注释变成代码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报错时让 AI 解释并修复</a:t>
            </a:r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45C8E0"/>
                </a:solidFill>
                <a:latin typeface="微软雅黑"/>
                <a:ea typeface="微软雅黑"/>
              </a:rPr>
              <a:t>关键能力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：读懂 AI 的建议，判断对不对、该不该接受。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9200" y="177800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4800" y="2082800"/>
            <a:ext cx="762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45C8E0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4800" y="2717800"/>
            <a:ext cx="43688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9EDF2"/>
                </a:solidFill>
                <a:latin typeface="微软雅黑"/>
                <a:ea typeface="微软雅黑"/>
              </a:rPr>
              <a:t>Vibe Coding —— 自然语言变程序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4800" y="3225800"/>
            <a:ext cx="43688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用中文描述"我想要什么"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AI 生成完整网页或小游戏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不满意就继续对话迭代</a:t>
            </a:r>
          </a:p>
          <a:p>
            <a:pPr algn="l">
              <a:lnSpc>
                <a:spcPct val="155000"/>
              </a:lnSpc>
              <a:spcBef>
                <a:spcPts val="1000"/>
              </a:spcBef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45C8E0"/>
                </a:solidFill>
                <a:latin typeface="微软雅黑"/>
                <a:ea typeface="微软雅黑"/>
              </a:rPr>
              <a:t>关键能力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：把模糊想法拆成清晰需求，写好提示词。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5816600"/>
            <a:ext cx="105664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补全用于"写的时候"，Vibe Coding 用于"想的时候" —— 两项技能贯穿全部 8 次课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8890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认识我们的工具：Trae 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2800" y="1778000"/>
            <a:ext cx="6858000" cy="4191000"/>
          </a:xfrm>
          <a:prstGeom prst="roundRect">
            <a:avLst>
              <a:gd name="adj" fmla="val 3000"/>
            </a:avLst>
          </a:prstGeom>
          <a:solidFill>
            <a:srgbClr val="0B1017"/>
          </a:solidFill>
          <a:ln w="12700">
            <a:solidFill>
              <a:srgbClr val="2E3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778000"/>
            <a:ext cx="6858000" cy="381000"/>
          </a:xfrm>
          <a:prstGeom prst="rect">
            <a:avLst/>
          </a:prstGeom>
          <a:solidFill>
            <a:srgbClr val="23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600" y="1917700"/>
            <a:ext cx="114300" cy="114300"/>
          </a:xfrm>
          <a:prstGeom prst="ellipse">
            <a:avLst/>
          </a:prstGeom>
          <a:solidFill>
            <a:srgbClr val="E0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93800" y="1917700"/>
            <a:ext cx="114300" cy="114300"/>
          </a:xfrm>
          <a:prstGeom prst="ellipse">
            <a:avLst/>
          </a:prstGeom>
          <a:solidFill>
            <a:srgbClr val="E0B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7000" y="1917700"/>
            <a:ext cx="114300" cy="114300"/>
          </a:xfrm>
          <a:prstGeom prst="ellipse">
            <a:avLst/>
          </a:prstGeom>
          <a:solidFill>
            <a:srgbClr val="6CB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1000" y="1778000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3A0B4"/>
                </a:solidFill>
                <a:latin typeface="微软雅黑"/>
                <a:ea typeface="微软雅黑"/>
              </a:rPr>
              <a:t>Trae 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5200" y="2311400"/>
            <a:ext cx="4013200" cy="3479800"/>
          </a:xfrm>
          <a:prstGeom prst="rect">
            <a:avLst/>
          </a:prstGeom>
          <a:solidFill>
            <a:srgbClr val="101722"/>
          </a:solidFill>
          <a:ln w="12700">
            <a:solidFill>
              <a:srgbClr val="45C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463800"/>
            <a:ext cx="3683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5C8E0"/>
                </a:solidFill>
                <a:latin typeface="微软雅黑"/>
                <a:ea typeface="微软雅黑"/>
              </a:rPr>
              <a:t>① 编辑器区 · 写代码的地方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448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200" b="0" i="0">
                <a:solidFill>
                  <a:srgbClr val="93A0B4"/>
                </a:solidFill>
                <a:latin typeface="Consolas"/>
                <a:ea typeface="Consolas"/>
              </a:rPr>
              <a:t>name = input("你叫什么？")</a:t>
            </a:r>
          </a:p>
          <a:p>
            <a:pPr algn="l">
              <a:lnSpc>
                <a:spcPct val="180000"/>
              </a:lnSpc>
            </a:pPr>
            <a:r>
              <a:rPr sz="1200" b="0" i="0">
                <a:solidFill>
                  <a:srgbClr val="93A0B4"/>
                </a:solidFill>
                <a:latin typeface="Consolas"/>
                <a:ea typeface="Consolas"/>
              </a:rPr>
              <a:t>
</a:t>
            </a:r>
            <a:r>
              <a:rPr sz="1200" b="0" i="0">
                <a:solidFill>
                  <a:srgbClr val="93A0B4"/>
                </a:solidFill>
                <a:latin typeface="Consolas"/>
                <a:ea typeface="Consolas"/>
              </a:rPr>
              <a:t>print("你好", name)</a:t>
            </a:r>
          </a:p>
          <a:p>
            <a:pPr algn="l">
              <a:lnSpc>
                <a:spcPct val="180000"/>
              </a:lnSpc>
            </a:pPr>
            <a:r>
              <a:rPr sz="1200" b="0" i="0">
                <a:solidFill>
                  <a:srgbClr val="93A0B4"/>
                </a:solidFill>
                <a:latin typeface="Consolas"/>
                <a:ea typeface="Consolas"/>
              </a:rPr>
              <a:t>
</a:t>
            </a:r>
            <a:r>
              <a:rPr sz="1200" b="0" i="0">
                <a:solidFill>
                  <a:srgbClr val="45C8E0"/>
                </a:solidFill>
                <a:latin typeface="Consolas"/>
                <a:ea typeface="Consolas"/>
              </a:rPr>
              <a:t># Tab → AI 自动补全下一行</a:t>
            </a:r>
          </a:p>
          <a:p>
            <a:pPr algn="l">
              <a:lnSpc>
                <a:spcPct val="180000"/>
              </a:lnSpc>
            </a:pPr>
            <a:r>
              <a:rPr sz="1200" b="0" i="0">
                <a:solidFill>
                  <a:srgbClr val="93A0B4"/>
                </a:solidFill>
                <a:latin typeface="Consolas"/>
                <a:ea typeface="Consolas"/>
              </a:rPr>
              <a:t>
</a:t>
            </a:r>
            <a:r>
              <a:rPr sz="1200" b="0" i="0">
                <a:solidFill>
                  <a:srgbClr val="93A0B4"/>
                </a:solidFill>
                <a:latin typeface="Consolas"/>
                <a:ea typeface="Consolas"/>
              </a:rPr>
              <a:t>score = 0</a:t>
            </a:r>
          </a:p>
          <a:p>
            <a:pPr algn="l">
              <a:lnSpc>
                <a:spcPct val="180000"/>
              </a:lnSpc>
            </a:pPr>
            <a:r>
              <a:rPr sz="1200" b="0" i="0">
                <a:solidFill>
                  <a:srgbClr val="93A0B4"/>
                </a:solidFill>
                <a:latin typeface="Consolas"/>
                <a:ea typeface="Consolas"/>
              </a:rPr>
              <a:t>
</a:t>
            </a:r>
            <a:r>
              <a:rPr sz="1200" b="0" i="0">
                <a:solidFill>
                  <a:srgbClr val="93A0B4"/>
                </a:solidFill>
                <a:latin typeface="Consolas"/>
                <a:ea typeface="Consolas"/>
              </a:rPr>
              <a:t>while score &lt; 10:</a:t>
            </a:r>
          </a:p>
          <a:p>
            <a:pPr algn="l">
              <a:lnSpc>
                <a:spcPct val="180000"/>
              </a:lnSpc>
            </a:pPr>
            <a:r>
              <a:rPr sz="1200" b="0" i="0">
                <a:solidFill>
                  <a:srgbClr val="93A0B4"/>
                </a:solidFill>
                <a:latin typeface="Consolas"/>
                <a:ea typeface="Consolas"/>
              </a:rPr>
              <a:t>
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0800" y="2311400"/>
            <a:ext cx="2387600" cy="1651000"/>
          </a:xfrm>
          <a:prstGeom prst="rect">
            <a:avLst/>
          </a:prstGeom>
          <a:solidFill>
            <a:srgbClr val="1B2430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3200" y="2438400"/>
            <a:ext cx="215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② Chat 区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
</a:t>
            </a:r>
            <a:r>
              <a:rPr sz="1100" b="1" i="0">
                <a:solidFill>
                  <a:srgbClr val="93A0B4"/>
                </a:solidFill>
                <a:latin typeface="微软雅黑"/>
                <a:ea typeface="微软雅黑"/>
              </a:rPr>
              <a:t>随时问 AI 问题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0800" y="4140200"/>
            <a:ext cx="2387600" cy="1651000"/>
          </a:xfrm>
          <a:prstGeom prst="rect">
            <a:avLst/>
          </a:prstGeom>
          <a:solidFill>
            <a:srgbClr val="1B2430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3200" y="4267200"/>
            <a:ext cx="215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③ Builder 区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
</a:t>
            </a:r>
            <a:r>
              <a:rPr sz="1100" b="1" i="0">
                <a:solidFill>
                  <a:srgbClr val="93A0B4"/>
                </a:solidFill>
                <a:latin typeface="微软雅黑"/>
                <a:ea typeface="微软雅黑"/>
              </a:rPr>
              <a:t>一句话生成整个项目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1778000"/>
            <a:ext cx="32512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9EDF2"/>
                </a:solidFill>
                <a:latin typeface="微软雅黑"/>
                <a:ea typeface="微软雅黑"/>
              </a:rPr>
              <a:t>为什么选择 Trae？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2184400"/>
            <a:ext cx="32512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国产 AI IDE，中文界面、中文对话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代码补全开箱即用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Chat / Builder 双模式，正好对应课程两大技能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支持 Python 与网页项目，一门课不用换工具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0" y="5384800"/>
            <a:ext cx="32512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8000" y="55118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提示：第一课先带学生熟悉三个区的位置，后面每课都会用到。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8890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课程地图：8 课总览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676400"/>
          <a:ext cx="10566400" cy="431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6640"/>
                <a:gridCol w="2113280"/>
                <a:gridCol w="4437888"/>
                <a:gridCol w="2958592"/>
              </a:tblGrid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5A623"/>
                          </a:solidFill>
                          <a:latin typeface="微软雅黑"/>
                        </a:rPr>
                        <a:t>课次</a:t>
                      </a:r>
                    </a:p>
                  </a:txBody>
                  <a:tcPr marL="50800" marR="50800" marT="25400" marB="25400" anchor="ctr">
                    <a:solidFill>
                      <a:srgbClr val="232E3D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5A623"/>
                          </a:solidFill>
                          <a:latin typeface="微软雅黑"/>
                        </a:rPr>
                        <a:t>语言</a:t>
                      </a:r>
                    </a:p>
                  </a:txBody>
                  <a:tcPr marL="50800" marR="50800" marT="25400" marB="25400" anchor="ctr">
                    <a:solidFill>
                      <a:srgbClr val="232E3D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5A623"/>
                          </a:solidFill>
                          <a:latin typeface="微软雅黑"/>
                        </a:rPr>
                        <a:t>主题</a:t>
                      </a:r>
                    </a:p>
                  </a:txBody>
                  <a:tcPr marL="50800" marR="50800" marT="25400" marB="25400" anchor="ctr">
                    <a:solidFill>
                      <a:srgbClr val="232E3D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5A623"/>
                          </a:solidFill>
                          <a:latin typeface="微软雅黑"/>
                        </a:rPr>
                        <a:t>产出项目</a:t>
                      </a:r>
                    </a:p>
                  </a:txBody>
                  <a:tcPr marL="50800" marR="50800" marT="25400" marB="25400" anchor="ctr">
                    <a:solidFill>
                      <a:srgbClr val="232E3D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</a:tr>
              <a:tr h="4749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第 1 课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Python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你好，Python！变量与输出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自我介绍程序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</a:tr>
              <a:tr h="4749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第 2 课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Python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输入与简单逻辑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AI 聊天机器人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</a:tr>
              <a:tr h="4749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第 3 课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Python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循环与随机数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猜数字游戏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</a:tr>
              <a:tr h="4749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第 4 课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Python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Vibe Coding 初体验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单词消消乐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</a:tr>
              <a:tr h="4749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第 5 课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HTML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网页结构与样式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我的个人主页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</a:tr>
              <a:tr h="4749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第 6 课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JavaScript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按钮、事件与交互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会动的交互页面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</a:tr>
              <a:tr h="4749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第 7 课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JavaScript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计时与碰撞逻辑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打地鼠游戏</a:t>
                      </a:r>
                    </a:p>
                  </a:txBody>
                  <a:tcPr marL="50800" marR="50800" marT="25400" marB="25400" anchor="ctr">
                    <a:solidFill>
                      <a:srgbClr val="161D28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</a:tr>
              <a:tr h="474980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第 8 课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综合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项目制创作 + 路演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E9EDF2"/>
                          </a:solidFill>
                          <a:latin typeface="微软雅黑"/>
                        </a:rPr>
                        <a:t>综合大项目</a:t>
                      </a:r>
                    </a:p>
                  </a:txBody>
                  <a:tcPr marL="50800" marR="50800" marT="25400" marB="25400" anchor="ctr">
                    <a:solidFill>
                      <a:srgbClr val="121924"/>
                    </a:solidFill>
                    <a:lnL w="9525" cap="flat">
                      <a:solidFill>
                        <a:srgbClr val="2E3A4C"/>
                      </a:solidFill>
                    </a:lnL>
                    <a:lnR w="9525" cap="flat">
                      <a:solidFill>
                        <a:srgbClr val="2E3A4C"/>
                      </a:solidFill>
                    </a:lnR>
                    <a:lnT w="9525" cap="flat">
                      <a:solidFill>
                        <a:srgbClr val="2E3A4C"/>
                      </a:solidFill>
                    </a:lnT>
                    <a:lnB w="9525" cap="flat">
                      <a:solidFill>
                        <a:srgbClr val="2E3A4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HIGHLIGHTS · PYTHON 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9652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第 1-2 课：Python 起步 + AI 聊天机器人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752600"/>
            <a:ext cx="1270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微软雅黑"/>
                <a:ea typeface="微软雅黑"/>
              </a:rPr>
              <a:t>第 1 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133600"/>
            <a:ext cx="48768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9EDF2"/>
                </a:solidFill>
                <a:latin typeface="微软雅黑"/>
                <a:ea typeface="微软雅黑"/>
              </a:rPr>
              <a:t>你好，Python！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616200"/>
            <a:ext cx="48768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第一次打开 Trae，跑通第一行代码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变量与 print 输出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体验 Tab 键补全：AI 猜你想写什么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470400"/>
            <a:ext cx="48768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5C8E0"/>
                </a:solidFill>
                <a:latin typeface="微软雅黑"/>
                <a:ea typeface="微软雅黑"/>
              </a:rPr>
              <a:t>▶ 产出：会说话的自我介绍程序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0600" y="1752600"/>
            <a:ext cx="12700" cy="39370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0" y="1752600"/>
            <a:ext cx="1270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微软雅黑"/>
                <a:ea typeface="微软雅黑"/>
              </a:rPr>
              <a:t>第 2 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133600"/>
            <a:ext cx="48768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9EDF2"/>
                </a:solidFill>
                <a:latin typeface="微软雅黑"/>
                <a:ea typeface="微软雅黑"/>
              </a:rPr>
              <a:t>AI 聊天机器人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616200"/>
            <a:ext cx="4826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input 输入与字符串拼接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if 条件判断：机器人"听懂"关键词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用 Chat 区让 AI 帮忙加新功能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470400"/>
            <a:ext cx="4826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5C8E0"/>
                </a:solidFill>
                <a:latin typeface="微软雅黑"/>
                <a:ea typeface="微软雅黑"/>
              </a:rPr>
              <a:t>▶ 产出：能问答的命令行聊天机器人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5130800"/>
            <a:ext cx="10566400" cy="71120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" y="5130800"/>
            <a:ext cx="99568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教学目标：消除对代码的陌生感 —— 两节课后，每个学生都写过、改过、运行过自己的程序。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HIGHLIGHTS · PYTHON 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9652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第 3-4 课：猜数字 + 单词消消乐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752600"/>
            <a:ext cx="1270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微软雅黑"/>
                <a:ea typeface="微软雅黑"/>
              </a:rPr>
              <a:t>第 3 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133600"/>
            <a:ext cx="48768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9EDF2"/>
                </a:solidFill>
                <a:latin typeface="微软雅黑"/>
                <a:ea typeface="微软雅黑"/>
              </a:rPr>
              <a:t>猜数字游戏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616200"/>
            <a:ext cx="48768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while 循环：猜不对就一直猜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random 随机数与"大了 / 小了"判断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练习：让 AI 解释每一行代码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470400"/>
            <a:ext cx="48768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5C8E0"/>
                </a:solidFill>
                <a:latin typeface="微软雅黑"/>
                <a:ea typeface="微软雅黑"/>
              </a:rPr>
              <a:t>▶ 产出：带计次功能的猜数字游戏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0600" y="1752600"/>
            <a:ext cx="12700" cy="39370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0" y="1752600"/>
            <a:ext cx="1270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微软雅黑"/>
                <a:ea typeface="微软雅黑"/>
              </a:rPr>
              <a:t>第 4 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133600"/>
            <a:ext cx="48768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9EDF2"/>
                </a:solidFill>
                <a:latin typeface="微软雅黑"/>
                <a:ea typeface="微软雅黑"/>
              </a:rPr>
              <a:t>单词消消乐（Vibe Coding 初体验）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616200"/>
            <a:ext cx="4826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第一次用中文描述完整的游戏需求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看 AI 一口气生成整个小游戏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练习迭代：换单词表、加倒计时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470400"/>
            <a:ext cx="4826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5C8E0"/>
                </a:solidFill>
                <a:latin typeface="微软雅黑"/>
                <a:ea typeface="微软雅黑"/>
              </a:rPr>
              <a:t>▶ 产出：英语单词消消乐小游戏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5130800"/>
            <a:ext cx="10566400" cy="71120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" y="5130800"/>
            <a:ext cx="99568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关键转折：第 4 课是学生第一次"只说想法、不写代码"就得到作品 —— Vibe Coding 的种子在这里种下。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HIGHLIGHTS · 网页篇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9652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第 5-6 课：个人主页 + 交互页面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752600"/>
            <a:ext cx="1270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微软雅黑"/>
                <a:ea typeface="微软雅黑"/>
              </a:rPr>
              <a:t>第 5 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133600"/>
            <a:ext cx="48768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9EDF2"/>
                </a:solidFill>
                <a:latin typeface="微软雅黑"/>
                <a:ea typeface="微软雅黑"/>
              </a:rPr>
              <a:t>我的个人主页（HTML）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616200"/>
            <a:ext cx="48768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标签与网页骨架：标题、段落、图片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简单样式：颜色、字体、排版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AI 生成页面框架，学生改内容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470400"/>
            <a:ext cx="48768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5C8E0"/>
                </a:solidFill>
                <a:latin typeface="微软雅黑"/>
                <a:ea typeface="微软雅黑"/>
              </a:rPr>
              <a:t>▶ 产出：可在浏览器打开的个人主页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0600" y="1752600"/>
            <a:ext cx="12700" cy="39370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0" y="1752600"/>
            <a:ext cx="1270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微软雅黑"/>
                <a:ea typeface="微软雅黑"/>
              </a:rPr>
              <a:t>第 6 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133600"/>
            <a:ext cx="48768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9EDF2"/>
                </a:solidFill>
                <a:latin typeface="微软雅黑"/>
                <a:ea typeface="微软雅黑"/>
              </a:rPr>
              <a:t>会动的交互页面（JavaScript）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616200"/>
            <a:ext cx="4826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按钮与点击事件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用 JS 改文字、改颜色、做计数器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把想法描述给 AI，生成交互效果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470400"/>
            <a:ext cx="4826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5C8E0"/>
                </a:solidFill>
                <a:latin typeface="微软雅黑"/>
                <a:ea typeface="微软雅黑"/>
              </a:rPr>
              <a:t>▶ 产出：带按钮和动效的交互页面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5130800"/>
            <a:ext cx="10566400" cy="71120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" y="5130800"/>
            <a:ext cx="99568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从命令行走进浏览器：作品变得"看得见、摸得着"，学生可以当场把链接分享给家人。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HIGHLIGHTS · 综合篇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9652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第 7-8 课：打地鼠 + 综合大项目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752600"/>
            <a:ext cx="1270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微软雅黑"/>
                <a:ea typeface="微软雅黑"/>
              </a:rPr>
              <a:t>第 7 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133600"/>
            <a:ext cx="48768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9EDF2"/>
                </a:solidFill>
                <a:latin typeface="微软雅黑"/>
                <a:ea typeface="微软雅黑"/>
              </a:rPr>
              <a:t>打地鼠游戏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616200"/>
            <a:ext cx="48768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计时器、分数与随机出现逻辑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用"三次提示法"写清游戏规则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用 AI 迭代：加音效、加难度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4470400"/>
            <a:ext cx="48768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5C8E0"/>
                </a:solidFill>
                <a:latin typeface="微软雅黑"/>
                <a:ea typeface="微软雅黑"/>
              </a:rPr>
              <a:t>▶ 产出：可计分的打地鼠网页游戏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0600" y="1752600"/>
            <a:ext cx="12700" cy="39370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200" y="1752600"/>
            <a:ext cx="1270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5A623"/>
                </a:solidFill>
                <a:latin typeface="微软雅黑"/>
                <a:ea typeface="微软雅黑"/>
              </a:rPr>
              <a:t>第 8 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133600"/>
            <a:ext cx="48768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9EDF2"/>
                </a:solidFill>
                <a:latin typeface="微软雅黑"/>
                <a:ea typeface="微软雅黑"/>
              </a:rPr>
              <a:t>综合大项目 + 班级路演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616200"/>
            <a:ext cx="4826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自由选题：游戏 / 工具 / 个人网站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全程用 Vibe Coding 开发，教师做顾问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· 最后一小时：上台展示、同学互评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470400"/>
            <a:ext cx="4826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45C8E0"/>
                </a:solidFill>
                <a:latin typeface="微软雅黑"/>
                <a:ea typeface="微软雅黑"/>
              </a:rPr>
              <a:t>▶ 产出：个人综合项目 + 作品集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5130800"/>
            <a:ext cx="10566400" cy="711200"/>
          </a:xfrm>
          <a:prstGeom prst="roundRect">
            <a:avLst>
              <a:gd name="adj" fmla="val 10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" y="5130800"/>
            <a:ext cx="99568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收官目标：学生独立完成"选题 → 提示词 → 生成 → 迭代 → 展示"的完整创作流程。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CLASS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8890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一堂课怎么上：四步节奏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854200"/>
            <a:ext cx="2413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5A623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1879600"/>
            <a:ext cx="2032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DF2"/>
                </a:solidFill>
                <a:latin typeface="微软雅黑"/>
                <a:ea typeface="微软雅黑"/>
              </a:rPr>
              <a:t>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438400"/>
            <a:ext cx="215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教师现场演示，让 AI 写代码，学生看到完整过程。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48000" y="2006600"/>
            <a:ext cx="431800" cy="228600"/>
          </a:xfrm>
          <a:prstGeom prst="rightArrow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1400" y="1854200"/>
            <a:ext cx="508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5A623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87800" y="1879600"/>
            <a:ext cx="2032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DF2"/>
                </a:solidFill>
                <a:latin typeface="微软雅黑"/>
                <a:ea typeface="微软雅黑"/>
              </a:rPr>
              <a:t>动手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1400" y="2438400"/>
            <a:ext cx="215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学生跟着做，再做变式任务；教师巡视答疑。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16600" y="2006600"/>
            <a:ext cx="431800" cy="228600"/>
          </a:xfrm>
          <a:prstGeom prst="rightArrow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0" y="1854200"/>
            <a:ext cx="508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5A623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6400" y="1879600"/>
            <a:ext cx="2159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DF2"/>
                </a:solidFill>
                <a:latin typeface="微软雅黑"/>
                <a:ea typeface="微软雅黑"/>
              </a:rPr>
              <a:t>三次提示法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0" y="2438400"/>
            <a:ext cx="215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卡壳时：先自己想 → 问 AI 要提示 → 才看完整答案。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85200" y="2006600"/>
            <a:ext cx="431800" cy="228600"/>
          </a:xfrm>
          <a:prstGeom prst="rightArrow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8600" y="1854200"/>
            <a:ext cx="508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5A623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0" y="1879600"/>
            <a:ext cx="1854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DF2"/>
                </a:solidFill>
                <a:latin typeface="微软雅黑"/>
                <a:ea typeface="微软雅黑"/>
              </a:rPr>
              <a:t>展示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8600" y="2438400"/>
            <a:ext cx="22606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学生展示自己的作品，互相点评，教师总结。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396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2800" y="4216400"/>
            <a:ext cx="10566400" cy="20066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8400" y="4368800"/>
            <a:ext cx="50800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45C8E0"/>
                </a:solidFill>
                <a:latin typeface="微软雅黑"/>
                <a:ea typeface="微软雅黑"/>
              </a:rPr>
              <a:t>「三次提示法」详解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8400" y="4775200"/>
            <a:ext cx="9855200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5A623"/>
                </a:solidFill>
                <a:latin typeface="微软雅黑"/>
                <a:ea typeface="微软雅黑"/>
              </a:rPr>
              <a:t>第 1 次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：自己思考 3 分钟，说出"我想让程序做什么、现在卡在哪"。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F5A623"/>
                </a:solidFill>
                <a:latin typeface="微软雅黑"/>
                <a:ea typeface="微软雅黑"/>
              </a:rPr>
              <a:t>第 2 次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：向 AI 要</a:t>
            </a: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提示而不是答案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 —— "给我一点思路，别写完整代码"。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F5A623"/>
                </a:solidFill>
                <a:latin typeface="微软雅黑"/>
                <a:ea typeface="微软雅黑"/>
              </a:rPr>
              <a:t>第 3 次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：还不行才看完整代码，并要求 AI 逐行解释。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9652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提示词示例：把想法说清楚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701800"/>
            <a:ext cx="5080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05C5C"/>
                </a:solidFill>
                <a:latin typeface="微软雅黑"/>
                <a:ea typeface="微软雅黑"/>
              </a:rPr>
              <a:t>✕ 坏提示词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082800"/>
            <a:ext cx="5080000" cy="15240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 w="12700">
            <a:solidFill>
              <a:srgbClr val="E0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600" y="2260600"/>
            <a:ext cx="4470400" cy="116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9EDF2"/>
                </a:solidFill>
                <a:latin typeface="微软雅黑"/>
                <a:ea typeface="微软雅黑"/>
              </a:rPr>
              <a:t>"帮我做一个打地鼠游戏。"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—— 没有规则、没有界面要求，AI 只能瞎猜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9200" y="1701800"/>
            <a:ext cx="5080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CBF6C"/>
                </a:solidFill>
                <a:latin typeface="微软雅黑"/>
                <a:ea typeface="微软雅黑"/>
              </a:rPr>
              <a:t>✓ 好提示词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9200" y="2082800"/>
            <a:ext cx="5080000" cy="27432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 w="12700">
            <a:solidFill>
              <a:srgbClr val="6CBF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0" y="2260600"/>
            <a:ext cx="4470400" cy="243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"用 HTML + JavaScript 做一个打地鼠网页游戏：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· 3×3 格子，地鼠每 1 秒随机出现；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· 点中加 1 分，30 秒倒计时；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· 结束后显示总分和'再玩一次'按钮；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· 深色背景、大按钮，适合初中生。"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800" y="48260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800" y="5029200"/>
            <a:ext cx="105664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A623"/>
                </a:solidFill>
                <a:latin typeface="微软雅黑"/>
                <a:ea typeface="微软雅黑"/>
              </a:rPr>
              <a:t>好提示词公式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5435600"/>
            <a:ext cx="105664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E9EDF2"/>
                </a:solidFill>
                <a:latin typeface="微软雅黑"/>
                <a:ea typeface="微软雅黑"/>
              </a:rPr>
              <a:t>目标（做什么） + 规则（怎么玩） + 界面（长什么样） + 细节（数值、按钮）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课堂练习：让学生先把想法写在纸上，再交给 Trae 的 Builder 生成。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8890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学生能带走什么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905000"/>
            <a:ext cx="3175000" cy="812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5A623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7000" y="2057400"/>
            <a:ext cx="2540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DF2"/>
                </a:solidFill>
                <a:latin typeface="微软雅黑"/>
                <a:ea typeface="微软雅黑"/>
              </a:rPr>
              <a:t>种语言基础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819400"/>
            <a:ext cx="3175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Python、HTML、JavaScript 各入门，知道它们分别适合做什么。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727200"/>
            <a:ext cx="31750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3600" y="1905000"/>
            <a:ext cx="3175000" cy="812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5A623"/>
                </a:solidFill>
                <a:latin typeface="微软雅黑"/>
                <a:ea typeface="微软雅黑"/>
              </a:rPr>
              <a:t>6+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4200" y="2057400"/>
            <a:ext cx="2159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DF2"/>
                </a:solidFill>
                <a:latin typeface="微软雅黑"/>
                <a:ea typeface="微软雅黑"/>
              </a:rPr>
              <a:t>个项目作品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00" y="2819400"/>
            <a:ext cx="3175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聊天机器人、猜数字、消消乐、个人主页、打地鼠……组成自己的作品集。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3600" y="1727200"/>
            <a:ext cx="31750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4400" y="1905000"/>
            <a:ext cx="3175000" cy="812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45C8E0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8600" y="2057400"/>
            <a:ext cx="22606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9EDF2"/>
                </a:solidFill>
                <a:latin typeface="微软雅黑"/>
                <a:ea typeface="微软雅黑"/>
              </a:rPr>
              <a:t>套 AI 协作思维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400" y="2819400"/>
            <a:ext cx="2844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把想法说清楚、把任务拆小、验收 AI 的结果 —— 未来通用的能力。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34400" y="1727200"/>
            <a:ext cx="2844800" cy="25400"/>
          </a:xfrm>
          <a:prstGeom prst="rect">
            <a:avLst/>
          </a:prstGeom>
          <a:solidFill>
            <a:srgbClr val="45C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2800" y="4419600"/>
            <a:ext cx="10566400" cy="1397000"/>
          </a:xfrm>
          <a:prstGeom prst="roundRect">
            <a:avLst>
              <a:gd name="adj" fmla="val 6000"/>
            </a:avLst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" y="4851400"/>
            <a:ext cx="53340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20" b="1">
                <a:solidFill>
                  <a:srgbClr val="F5A623"/>
                </a:solidFill>
                <a:latin typeface="微软雅黑"/>
              </a:rPr>
              <a:t>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2000" y="4724400"/>
            <a:ext cx="9042400" cy="965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9EDF2"/>
                </a:solidFill>
                <a:latin typeface="微软雅黑"/>
                <a:ea typeface="微软雅黑"/>
              </a:rPr>
              <a:t>8 次课结束后，每个学生都能说：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  <a:r>
              <a:rPr sz="1500" b="0" i="0">
                <a:solidFill>
                  <a:srgbClr val="45C8E0"/>
                </a:solidFill>
                <a:latin typeface="微软雅黑"/>
                <a:ea typeface="微软雅黑"/>
              </a:rPr>
              <a:t>"我有一个想法，我能让 AI 帮我把它做出来。"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E9EDF2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457200"/>
            <a:ext cx="3810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微软雅黑"/>
                <a:ea typeface="微软雅黑"/>
              </a:rPr>
              <a:t>FOR TEACHERS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8890000" cy="558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9EDF2"/>
                </a:solidFill>
                <a:latin typeface="微软雅黑"/>
                <a:ea typeface="微软雅黑"/>
              </a:rPr>
              <a:t>给教师的开课清单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1422400"/>
            <a:ext cx="105664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778000"/>
            <a:ext cx="3302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60" b="1">
                <a:solidFill>
                  <a:srgbClr val="F5A623"/>
                </a:solidFill>
                <a:latin typeface="微软雅黑"/>
              </a:rPr>
              <a:t>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5400" y="1752600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9EDF2"/>
                </a:solidFill>
                <a:latin typeface="微软雅黑"/>
                <a:ea typeface="微软雅黑"/>
              </a:rPr>
              <a:t>环境准备（开课前 1 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2209800"/>
            <a:ext cx="43942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每台电脑安装 Trae 并注册账号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安装 Python 3，跑通 hello.py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检查机房网络能否正常使用 AI 功能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准备离线备用方案（安装包、示例代码 U 盘）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676400"/>
            <a:ext cx="48768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1778000"/>
            <a:ext cx="3302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60" b="1">
                <a:solidFill>
                  <a:srgbClr val="F5A623"/>
                </a:solidFill>
                <a:latin typeface="微软雅黑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1752600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9EDF2"/>
                </a:solidFill>
                <a:latin typeface="微软雅黑"/>
                <a:ea typeface="微软雅黑"/>
              </a:rPr>
              <a:t>课时安排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2209800"/>
            <a:ext cx="43942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8 次课，每次 45-90 分钟可调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建议节奏：演示 10′ → 动手 25′ → 展示 10′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第 4 课后可安排一次家长开放展示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第 8 课预留整节做项目路演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2400" y="1676400"/>
            <a:ext cx="48768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4267200"/>
            <a:ext cx="3302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60" b="1">
                <a:solidFill>
                  <a:srgbClr val="45C8E0"/>
                </a:solidFill>
                <a:latin typeface="微软雅黑"/>
              </a:rPr>
              <a:t>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4241800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9EDF2"/>
                </a:solidFill>
                <a:latin typeface="微软雅黑"/>
                <a:ea typeface="微软雅黑"/>
              </a:rPr>
              <a:t>评价方式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4699000"/>
            <a:ext cx="43942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过程性评价：每课作品完成度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提示词质量纳入评价（清晰、有细节）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不考语法默写，考"能不能做出来"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165600"/>
            <a:ext cx="48768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0" y="4267200"/>
            <a:ext cx="330200" cy="330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60" b="1">
                <a:solidFill>
                  <a:srgbClr val="45C8E0"/>
                </a:solidFill>
                <a:latin typeface="微软雅黑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5000" y="4241800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9EDF2"/>
                </a:solidFill>
                <a:latin typeface="微软雅黑"/>
                <a:ea typeface="微软雅黑"/>
              </a:rPr>
              <a:t>常见问题预案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5000" y="4699000"/>
            <a:ext cx="43942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AI 生成失败 → 换个说法再试一次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学生直接抄 AI 答案 → 用"三次提示法"引导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· 进度差异大 → 快的学生加扩展任务</a:t>
            </a:r>
          </a:p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93A0B4"/>
                </a:solidFill>
                <a:latin typeface="微软雅黑"/>
                <a:ea typeface="微软雅黑"/>
              </a:rPr>
              <a:t>
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2400" y="4165600"/>
            <a:ext cx="4876800" cy="12700"/>
          </a:xfrm>
          <a:prstGeom prst="rect">
            <a:avLst/>
          </a:prstGeom>
          <a:solidFill>
            <a:srgbClr val="2E3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22000" y="6350000"/>
            <a:ext cx="8128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0" y="1905000"/>
            <a:ext cx="3810000" cy="50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F5A623"/>
                </a:solidFill>
                <a:latin typeface="Consolas"/>
                <a:ea typeface="Consolas"/>
              </a:rPr>
              <a:t>&gt;_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51000" y="2540000"/>
            <a:ext cx="8890000" cy="1016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E9EDF2"/>
                </a:solidFill>
                <a:latin typeface="微软雅黑"/>
                <a:ea typeface="微软雅黑"/>
              </a:rPr>
              <a:t>Let's Vibe Code!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1000" y="3759200"/>
            <a:ext cx="8890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45C8E0"/>
                </a:solidFill>
                <a:latin typeface="微软雅黑"/>
                <a:ea typeface="微软雅黑"/>
              </a:rPr>
              <a:t>打开 Trae，写下你的第一行提示词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800" y="4419600"/>
            <a:ext cx="914400" cy="635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51000" y="4724400"/>
            <a:ext cx="88900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93A0B4"/>
                </a:solidFill>
                <a:latin typeface="微软雅黑"/>
                <a:ea typeface="微软雅黑"/>
              </a:rPr>
              <a:t>第 1 课见：让电脑开口说话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1000" y="5969000"/>
            <a:ext cx="8890000" cy="279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3A0B4"/>
                </a:solidFill>
                <a:latin typeface="微软雅黑"/>
                <a:ea typeface="微软雅黑"/>
              </a:rPr>
              <a:t>AI 协同编程课 · 谢谢聆听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